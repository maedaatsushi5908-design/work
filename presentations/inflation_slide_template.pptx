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表紙。会議名・日付・作成者を記入。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937760"/>
            <a:ext cx="594360" cy="1097280"/>
          </a:xfrm>
          <a:prstGeom prst="rect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4297680"/>
            <a:ext cx="594360" cy="1737360"/>
          </a:xfrm>
          <a:prstGeom prst="rect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566160"/>
            <a:ext cx="594360" cy="2468880"/>
          </a:xfrm>
          <a:prstGeom prst="rect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2743200"/>
            <a:ext cx="594360" cy="3291840"/>
          </a:xfrm>
          <a:prstGeom prst="rect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インフレスライドの計算方法と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簡略化について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【会議名】打合せ資料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【20XX年XX月XX日】　【部署名・作成者名】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本日のアジェンダ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会議の目的・背景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84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本日決めたいこと／共有したいこと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インフレスライドとは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8986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制度の概要・適用要件・手続きの流れ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計算方法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13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計算式・手順・計算例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計算方法の簡略化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27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現行の課題・簡略化案の比較・効果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論点・今後の進め方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641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決定事項の確認・スケジュール・担当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会議の目的・背景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【資材価格・労務単価の急激な変動状況】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【現行の計算事務で生じている課題】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【対象となる工事・契約の状況】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本日の目的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【インフレスライドの考え方を共有する】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【計算方法の簡略化案について意見を伺う】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【今後の進め方を決定する】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本日決めたいこと：</a:t>
            </a:r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【例：簡略化案の方向性（案A／案B）の決定】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インフレスライドとは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制度の概要・適用要件・手続きの流れ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スライド条項の種類と比較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※公共工事標準請負契約約款 第26条（内容は要確認・適宜修正）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全体スライド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単品スライド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インフレスライド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根拠条項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第26条第1〜4項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第26条第5項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第26条第6項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【比較的緩やかな価格水準の変動】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【特定の主要資材の価格変動】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【賃金水準・物価水準の急激な変動】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適用条件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【契約締結から12か月経過 等】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【工期内で価格が著しく変動】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【工期内で急激な変動が発生】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受注者負担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【残工事費の1.5%】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【対象工事費の1%】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【残工事費の1%】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適用の手続きフロー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【実際の運用に合わせてステップを修正してください】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5400000">
            <a:off x="2532888" y="2542032"/>
            <a:ext cx="274320" cy="310896"/>
          </a:xfrm>
          <a:prstGeom prst="triangle">
            <a:avLst/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61188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【担当】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【内容・留意点を記入】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43784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0116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基準日の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5400000">
            <a:off x="4828032" y="2542032"/>
            <a:ext cx="274320" cy="310896"/>
          </a:xfrm>
          <a:prstGeom prst="triangle">
            <a:avLst/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43784" y="361188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【担当】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【内容・留意点を記入】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38928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8928" y="20116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残工事量の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23176" y="2542032"/>
            <a:ext cx="274320" cy="310896"/>
          </a:xfrm>
          <a:prstGeom prst="triangle">
            <a:avLst/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361188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【担当】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【内容・留意点を記入】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34072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4072" y="20116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変動額の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418320" y="2542032"/>
            <a:ext cx="274320" cy="310896"/>
          </a:xfrm>
          <a:prstGeom prst="triangle">
            <a:avLst/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34072" y="361188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【担当】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【内容・留意点を記入】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29216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9216" y="20116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協議・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変更契約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729216" y="361188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【担当】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【内容・留意点を記入】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計算方法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計算式・算定手順・計算例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インフレスライド額の計算式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スライド額 S ＝ </a:t>
            </a:r>
            <a:pPr algn="ctr" indent="0" marL="0">
              <a:buNone/>
            </a:pPr>
            <a:r>
              <a:rPr lang="en-US" sz="3400" b="1" dirty="0">
                <a:solidFill>
                  <a:srgbClr val="E08E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 P2 − P1 )</a:t>
            </a:r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− P1 × 1/100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インフレスライド額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【定義・留意点を記入】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変動前残工事代金額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4114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【例：基準日における残工事量を変動前の単価で積算した額 × 落札率】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846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変動後残工事代金額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4846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【例：基準日における残工事量を変動後の単価で積算した額 × 落札率】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577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受注者負担分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577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【残工事費の1%を受注者が負担】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計算の手順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74420" y="1783080"/>
            <a:ext cx="0" cy="4023360"/>
          </a:xfrm>
          <a:prstGeom prst="line">
            <a:avLst/>
          </a:prstGeom>
          <a:noFill/>
          <a:ln w="25400">
            <a:solidFill>
              <a:srgbClr val="C9D3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36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基準日を決定する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36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【請求日を基準日とする等、運用ルールを記入】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404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残工事量を確定する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4048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【出来高確認の方法・対象外とするものを記入】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273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変動前後の単価を設定する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73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【使用する単価（設計単価・物価資料等）を記入】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P1・P2を積算する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1422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【積算方法・落札率の扱いを記入】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010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スライド額を算定する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0109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【端数処理・請求要件の確認方法を記入】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【数値はダミーです。実際の事例に置き換えてください】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468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金額（円）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変動前残工事代金額 P1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【XXX,XXX,XXX】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【算定根拠】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変動後残工事代金額 P2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【XXX,XXX,XXX】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【算定根拠】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変動額 P2 − P1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【XX,XXX,XXX】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受注者負担 P1 × 1%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【X,XXX,XXX】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スライド額 S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【XX,XXX,XXX】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383280" cy="3401568"/>
          </a:xfrm>
          <a:prstGeom prst="roundRect">
            <a:avLst>
              <a:gd name="adj" fmla="val 2162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【XX.X】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百万円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請負代金額の【X.X】%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【補足・注意点を記入】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計算方法の簡略化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現行の課題・簡略化案の比較・期待される効果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現行の計算方法の課題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事務負担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【例：全単価の再積算に時間がかかる】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【詳細を記入】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算定期間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【例：請求から変更契約まで長期化】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【詳細を記入】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828800"/>
            <a:ext cx="640080" cy="640080"/>
          </a:xfrm>
          <a:prstGeom prst="ellipse">
            <a:avLst/>
          </a:prstGeom>
          <a:solidFill>
            <a:srgbClr val="E08E2B"/>
          </a:solidFill>
          <a:ln w="12700">
            <a:solidFill>
              <a:srgbClr val="E08E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確認・審査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611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【例：根拠資料の確認範囲が広い】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【詳細を記入】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簡略化案の比較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31720"/>
                <a:gridCol w="2331720"/>
                <a:gridCol w="233172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案A【名称】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案B【名称】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案C【名称】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概要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【全単価を再積算】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【例：主要資材のみ再積算】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【例：指数による一括補正】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メリット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デメリット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【記入】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算定精度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【○】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【△】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【-】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事務負担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【○】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【◎】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【-】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推奨案：</a:t>
            </a:r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【案X】　理由：【記入】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簡略化による効果（試算）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【XX】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日／件（作業日数）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5400000">
            <a:off x="3995928" y="3017520"/>
            <a:ext cx="365760" cy="365760"/>
          </a:xfrm>
          <a:prstGeom prst="triangle">
            <a:avLst/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6459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簡略化後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68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【XX】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日／件（作業日数）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削減効果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468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【XX】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%（削減率）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試算の前提：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【対象件数・前提条件を記入】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精度への影響：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【現行との差額の試算結果を記入】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論点・今後の進め方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本日の論点・スケジュール・担当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本日ご議論いただきたい論点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55448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【論点1：例）簡略化案の方向性をどれにするか】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【補足・判断材料を記入】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718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97180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【論点2：例）適用対象（工事種別・規模）の範囲】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【補足・判断材料を記入】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891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38912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【論点3：例）受注者への説明・周知方法】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【補足・判断材料を記入】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今後のスケジュール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54480" y="3017520"/>
            <a:ext cx="9052560" cy="0"/>
          </a:xfrm>
          <a:prstGeom prst="line">
            <a:avLst/>
          </a:prstGeom>
          <a:noFill/>
          <a:ln w="38100">
            <a:solidFill>
              <a:srgbClr val="C9D3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9888" y="2852928"/>
            <a:ext cx="329184" cy="329184"/>
          </a:xfrm>
          <a:prstGeom prst="ellipse">
            <a:avLst/>
          </a:prstGeom>
          <a:solidFill>
            <a:srgbClr val="E08E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方針決定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3028" y="2852928"/>
            <a:ext cx="329184" cy="329184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117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【XX月】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117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運用ルール案作成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1178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6168" y="2852928"/>
            <a:ext cx="329184" cy="329184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関係者調整・周知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79308" y="2852928"/>
            <a:ext cx="329184" cy="329184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3806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3806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試行開始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380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42448" y="2852928"/>
            <a:ext cx="329184" cy="329184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本格運用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【詳細】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決定事項とネクストアクション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E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本日の決定事項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E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【決定事項1】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E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【決定事項2】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E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【決定事項3】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アクション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期限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【アクション1】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【担当】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【XX/XX】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【アクション2】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【担当】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【XX/XX】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【アクション3】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【担当】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【XX/XX】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【アクション4】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【担当】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7A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【XX/XX】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次回会議：</a:t>
            </a:r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【XX月XX日（X）XX:XX〜】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参考資料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公共工事標準請負契約約款 第26条（賃金又は物価の変動に基づく請負代金額の変更）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【発注機関のインフレスライド運用マニュアル等】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【物価資料・単価表の出典】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2E5470"/>
          </a:solidFill>
          <a:ln w="12700">
            <a:solidFill>
              <a:srgbClr val="2E5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【その他参考資料】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インフレスライドの計算方法と簡略化について</dc:title>
  <dc:subject>PptxGenJS Presentation</dc:subject>
  <dc:creator>PptxGenJS</dc:creator>
  <cp:lastModifiedBy>PptxGenJS</cp:lastModifiedBy>
  <cp:revision>1</cp:revision>
  <dcterms:created xsi:type="dcterms:W3CDTF">2026-09-28T00:25:58Z</dcterms:created>
  <dcterms:modified xsi:type="dcterms:W3CDTF">2026-09-28T00:25:58Z</dcterms:modified>
</cp:coreProperties>
</file>