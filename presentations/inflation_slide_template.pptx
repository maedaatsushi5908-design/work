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表紙。会議名・日付・作成者を記入。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様式4-2号の構成。数値は試しデータ。スライド額は円未満を切り捨て表示（元値 1,858,432.86）。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4937760"/>
            <a:ext cx="594360" cy="109728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4297680"/>
            <a:ext cx="594360" cy="173736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49840" y="3566160"/>
            <a:ext cx="594360" cy="2468880"/>
          </a:xfrm>
          <a:prstGeom prst="rect">
            <a:avLst/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27080" y="2743200"/>
            <a:ext cx="594360" cy="3291840"/>
          </a:xfrm>
          <a:prstGeom prst="rect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インフレスライドの計算方法と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簡略化について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【会議名】打合せ資料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【20XX年XX月XX日】　【部署名・作成者名】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本日の内容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会議の目的・背景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842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本日決めたいこと／共有したいこと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502920" cy="50292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インフレスライドとは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8986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制度の概要・適用要件・手続きの流れ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計算方法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8130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計算式・手順・計算例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389120"/>
            <a:ext cx="502920" cy="50292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計算方法の簡略化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7274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現行の課題・簡略化案の比較・効果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960" y="5303520"/>
            <a:ext cx="502920" cy="50292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5257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本日の論点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56418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ご議論いただきたい事項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会議の目的・背景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46304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8600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【資材価格・労務単価の急激な変動状況】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【現行の計算事務で生じている課題】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【対象となる工事・契約の状況】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691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本日の目的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28600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【インフレスライドの考え方を共有する】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【計算方法の簡略化案について意見を伺う】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【簡略化案の方向性を決定する】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本日決めたいこと：</a:t>
            </a:r>
            <a:pPr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【例：簡略化案の方向性（案A／案B）の決定】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08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インフレスライドとは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制度の概要・適用要件・手続きの流れ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スライド条項の種類と比較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※公共工事標準請負契約約款 第26条（内容は要確認・適宜修正）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全体スライド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単品スライド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インフレスライド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E2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根拠条項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第26条第1〜4項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第26条第5項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第26条第6項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【比較的緩やかな価格水準の変動】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【特定の主要資材の価格変動】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【賃金水準・物価水準の急激な変動】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適用条件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【契約締結から12か月経過 等】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【工期内で価格が著しく変動】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【工期内で急激な変動が発生】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受注者負担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【残工事費の1.5%】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【対象工事費の1%】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【残工事費の1%】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適用の手続きフロー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【実際の運用に合わせてステップを修正してください】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 rot="5400000">
            <a:off x="2532888" y="2542032"/>
            <a:ext cx="274320" cy="310896"/>
          </a:xfrm>
          <a:prstGeom prst="triangle">
            <a:avLst/>
          </a:prstGeom>
          <a:solidFill>
            <a:srgbClr val="C9D3DB"/>
          </a:solidFill>
          <a:ln w="12700">
            <a:solidFill>
              <a:srgbClr val="C9D3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611880"/>
            <a:ext cx="18745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【担当】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【内容・留意点を記入】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43784" y="201168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43784" y="201168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基準日の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 rot="5400000">
            <a:off x="4828032" y="2542032"/>
            <a:ext cx="274320" cy="310896"/>
          </a:xfrm>
          <a:prstGeom prst="triangle">
            <a:avLst/>
          </a:prstGeom>
          <a:solidFill>
            <a:srgbClr val="C9D3DB"/>
          </a:solidFill>
          <a:ln w="12700">
            <a:solidFill>
              <a:srgbClr val="C9D3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43784" y="3611880"/>
            <a:ext cx="18745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【担当】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【内容・留意点を記入】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38928" y="201168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38928" y="201168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残工事量の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 rot="5400000">
            <a:off x="7123176" y="2542032"/>
            <a:ext cx="274320" cy="310896"/>
          </a:xfrm>
          <a:prstGeom prst="triangle">
            <a:avLst/>
          </a:prstGeom>
          <a:solidFill>
            <a:srgbClr val="C9D3DB"/>
          </a:solidFill>
          <a:ln w="12700">
            <a:solidFill>
              <a:srgbClr val="C9D3D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38928" y="3611880"/>
            <a:ext cx="18745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【担当】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【内容・留意点を記入】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34072" y="201168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34072" y="201168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変動額の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算定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rot="5400000">
            <a:off x="9418320" y="2542032"/>
            <a:ext cx="274320" cy="310896"/>
          </a:xfrm>
          <a:prstGeom prst="triangle">
            <a:avLst/>
          </a:prstGeom>
          <a:solidFill>
            <a:srgbClr val="C9D3DB"/>
          </a:solidFill>
          <a:ln w="12700">
            <a:solidFill>
              <a:srgbClr val="C9D3D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34072" y="3611880"/>
            <a:ext cx="18745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【担当】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【内容・留意点を記入】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29216" y="201168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29216" y="201168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協議・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変更契約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729216" y="3611880"/>
            <a:ext cx="18745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【担当】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【内容・留意点を記入】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08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計算方法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計算式・算定手順・計算例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インフレスライド額の計算式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スライド調書（様式4-2号）の算式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スライド額 S' ＝ </a:t>
            </a:r>
            <a:pPr algn="ctr" indent="0" marL="0">
              <a:buNone/>
            </a:pPr>
            <a:r>
              <a:rPr lang="en-US" sz="3400" b="1" dirty="0">
                <a:solidFill>
                  <a:srgbClr val="E08E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 P2' − P1' )</a:t>
            </a:r>
            <a:pPr algn="ctr" indent="0" marL="0">
              <a:buNone/>
            </a:pPr>
            <a:r>
              <a:rPr lang="en-US" sz="3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− P1'' × 1/100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383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S'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33832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スライド額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33832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増額スライドは1%を控除、減額スライドは1%を戻す（− → ＋）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P1'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4114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残工事（変動前・請負ベース）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41148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④請負工事価格 − ⑥出来高（請負率考慮）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84632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846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P2'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874520" y="4846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残工事（変動後・請負ベース）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484632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⑧変動後残工事 × 請負率（③/①）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577840"/>
            <a:ext cx="1097280" cy="548640"/>
          </a:xfrm>
          <a:prstGeom prst="roundRect">
            <a:avLst>
              <a:gd name="adj" fmla="val 1333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577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P1''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874520" y="55778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新工種抜きの残工事（請負ベース）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303520" y="55778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⑨ − ⑩　※受注者負担1%の母数（新工種は除く）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計算の手順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74420" y="1783080"/>
            <a:ext cx="0" cy="4023360"/>
          </a:xfrm>
          <a:prstGeom prst="line">
            <a:avLst/>
          </a:prstGeom>
          <a:noFill/>
          <a:ln w="25400">
            <a:solidFill>
              <a:srgbClr val="C9D3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5361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基準日を決定する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153619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【請求日を基準日とする等、運用ルールを記入】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404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残工事量を確定する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40487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【出来高確認の方法・対象外とするものを記入】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3291840"/>
            <a:ext cx="502920" cy="502920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2735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変動前後の単価を設定する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327355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【使用する単価（設計単価・物価資料等）を記入】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160520"/>
            <a:ext cx="502920" cy="502920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1422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P1'・P2'・P1''を算出する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414223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【経費計算・請負率の扱いを記入】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029200"/>
            <a:ext cx="502920" cy="502920"/>
          </a:xfrm>
          <a:prstGeom prst="ellipse">
            <a:avLst/>
          </a:prstGeom>
          <a:solidFill>
            <a:srgbClr val="1F3A4D"/>
          </a:solidFill>
          <a:ln w="12700">
            <a:solidFill>
              <a:srgbClr val="1F3A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0109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スライド額を算定する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501091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【端数処理・請求要件の確認方法を記入】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計算例（スライド調書 様式4-2号）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【試しデータ（203_経費計算シート（試し）新工種）の値です。実際の事例に置き換えてください】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  <a:gridCol w="1645920"/>
                <a:gridCol w="1645920"/>
                <a:gridCol w="1828800"/>
              </a:tblGrid>
              <a:tr h="301752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元設計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出来高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残工事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スライド額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8E2B"/>
                    </a:solidFill>
                  </a:tcPr>
                </a:tc>
              </a:tr>
              <a:tr h="301752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変動前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変動後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 vMerge="1"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設計額（税込）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285,583,100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⑤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⑦=②-⑤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⑧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工事価格（税抜）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259,621,000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93,076,000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166,545,000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170,224,000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消費税相当額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25,962,100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請負代金額（税込）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250,130,627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⑥=⑤×(③/①)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P1'=④-⑥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P2'=⑧×(③/①)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S'=P2'-P1'-(P1''×1/100)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請負工事価格（税抜）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227,391,479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81,521,484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145,869,995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149,092,281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1,858,432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消費税相当額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22,739,148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⑩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547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P1''=⑨-⑩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請負工事価格（新工種抜き）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218,181,818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81,796,504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136,385,314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7150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請負率 ③/① ＝ 87.5859%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S' ＝ 149,092,281 − 145,869,995 − 136,385,314 × 1/100 ＝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08E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1,858,432円（増額スライド）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08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計算方法の簡略化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現行の課題・簡略化案の比較・期待される効果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現行の計算方法の課題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28800"/>
            <a:ext cx="640080" cy="64008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事務負担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118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【例：全単価の再積算に時間がかかる】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【詳細を記入】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828800"/>
            <a:ext cx="640080" cy="64008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算定期間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6118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【例：請求から変更契約まで長期化】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【詳細を記入】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1828800"/>
            <a:ext cx="640080" cy="640080"/>
          </a:xfrm>
          <a:prstGeom prst="ellipse">
            <a:avLst/>
          </a:prstGeom>
          <a:solidFill>
            <a:srgbClr val="E08E2B"/>
          </a:solidFill>
          <a:ln w="12700">
            <a:solidFill>
              <a:srgbClr val="E08E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667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017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確認・審査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6118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【例：根拠資料の確認範囲が広い】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【詳細を記入】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簡略化案の比較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31720"/>
                <a:gridCol w="2331720"/>
                <a:gridCol w="2331720"/>
                <a:gridCol w="23317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現行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案A【名称】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案B【名称】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案C【名称】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4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概要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【全単価を再積算】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【例：主要資材のみ再積算】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【例：指数による一括補正】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メリット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デメリット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【記入】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算定精度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【○】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【△】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【-】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事務負担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【○】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【◎】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A97A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【-】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E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推奨案：</a:t>
            </a:r>
            <a:pPr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【案X】　理由：【記入】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簡略化による効果（試算）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383280" cy="3108960"/>
          </a:xfrm>
          <a:prstGeom prst="roundRect">
            <a:avLst>
              <a:gd name="adj" fmla="val 235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【XX】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49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日／件（作業日数）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 rot="5400000">
            <a:off x="3995928" y="3017520"/>
            <a:ext cx="365760" cy="365760"/>
          </a:xfrm>
          <a:prstGeom prst="triangle">
            <a:avLst/>
          </a:prstGeom>
          <a:solidFill>
            <a:srgbClr val="C9D3DB"/>
          </a:solidFill>
          <a:ln w="12700">
            <a:solidFill>
              <a:srgbClr val="C9D3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1645920"/>
            <a:ext cx="3383280" cy="3108960"/>
          </a:xfrm>
          <a:prstGeom prst="roundRect">
            <a:avLst>
              <a:gd name="adj" fmla="val 235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簡略化後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468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【XX】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749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日／件（作業日数）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0" y="1645920"/>
            <a:ext cx="3383280" cy="3108960"/>
          </a:xfrm>
          <a:prstGeom prst="roundRect">
            <a:avLst>
              <a:gd name="adj" fmla="val 2353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削減効果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4688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F3A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【XX】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3749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%（削減率）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試算の前提：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【対象件数・前提条件を記入】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精度への影響：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【現行との差額の試算結果を記入】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08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本日の論点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ご議論いただきたい事項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本日ご議論いただきたい論点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55448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【論点1：例）簡略化案の方向性をどれにするか】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【補足・判断材料を記入】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718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828800" y="297180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【論点2：例）適用対象（工事種別・規模）の範囲】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【補足・判断材料を記入】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3891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EF2F5"/>
          </a:solidFill>
          <a:ln w="12700">
            <a:solidFill>
              <a:srgbClr val="EEF2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38912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8912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【論点3：例）受注者への説明・周知方法】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【補足・判断材料を記入】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参考資料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2E5470"/>
          </a:solidFill>
          <a:ln w="12700">
            <a:solidFill>
              <a:srgbClr val="2E547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5544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公共工事標準請負契約約款 第26条（賃金又は物価の変動に基づく請負代金額の変更）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rgbClr val="2E5470"/>
          </a:solidFill>
          <a:ln w="12700">
            <a:solidFill>
              <a:srgbClr val="2E547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3774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【発注機関のインフレスライド運用マニュアル等】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rgbClr val="2E5470"/>
          </a:solidFill>
          <a:ln w="12700">
            <a:solidFill>
              <a:srgbClr val="2E547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200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【物価資料・単価表の出典】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2E5470"/>
          </a:solidFill>
          <a:ln w="12700">
            <a:solidFill>
              <a:srgbClr val="2E54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233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【その他参考資料】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インフレスライドの計算方法と簡略化について</dc:title>
  <dc:subject>PptxGenJS Presentation</dc:subject>
  <dc:creator>PptxGenJS</dc:creator>
  <cp:lastModifiedBy>PptxGenJS</cp:lastModifiedBy>
  <cp:revision>1</cp:revision>
  <dcterms:created xsi:type="dcterms:W3CDTF">2026-09-28T00:40:24Z</dcterms:created>
  <dcterms:modified xsi:type="dcterms:W3CDTF">2026-09-28T00:40:24Z</dcterms:modified>
</cp:coreProperties>
</file>